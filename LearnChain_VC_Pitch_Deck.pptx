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Teacher Take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Coursera</c:v>
                  </c:pt>
                  <c:pt idx="1">
                    <c:v>Udemy</c:v>
                  </c:pt>
                  <c:pt idx="2">
                    <c:v>LearnChain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50</c:v>
                </c:pt>
                <c:pt idx="2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Platform Take</c:v>
                </c:pt>
              </c:strCache>
            </c:strRef>
          </c:tx>
          <c:spPr>
            <a:solidFill>
              <a:srgbClr val="D7DEE5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Coursera</c:v>
                  </c:pt>
                  <c:pt idx="1">
                    <c:v>Udemy</c:v>
                  </c:pt>
                  <c:pt idx="2">
                    <c:v>LearnChain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50</c:v>
                </c:pt>
                <c:pt idx="1">
                  <c:v>50</c:v>
                </c:pt>
                <c:pt idx="2">
                  <c:v>10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2743200"/>
            <a:ext cx="4114800" cy="4114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265615" y="3931920"/>
            <a:ext cx="2926080" cy="29260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28655" y="5394960"/>
            <a:ext cx="1463040" cy="146304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0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LEARNCHAIN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058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Adaptive Learning,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Verifiable on the Blockchain.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640080" y="44805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AI-built courses. Merit-based credentials. Built for the next billion learners.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5394960"/>
            <a:ext cx="457200" cy="36576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55778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 Pitch Deck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Round  •  May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Education is broken — for learners,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teachers, and the people funding them.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3108960"/>
            <a:ext cx="36576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3108960"/>
            <a:ext cx="109728" cy="2926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347472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1.6B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868680" y="484632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learners in emerging markets without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quality, low-bandwidth education.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89120" y="3108960"/>
            <a:ext cx="36576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89120" y="3108960"/>
            <a:ext cx="109728" cy="29260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347472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30–50%</a:t>
            </a:r>
            <a:endParaRPr lang="en-US" sz="6400" dirty="0"/>
          </a:p>
        </p:txBody>
      </p:sp>
      <p:sp>
        <p:nvSpPr>
          <p:cNvPr id="11" name="Text 9"/>
          <p:cNvSpPr/>
          <p:nvPr/>
        </p:nvSpPr>
        <p:spPr>
          <a:xfrm>
            <a:off x="4709160" y="484632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teacher revenue captured by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incumbent platforms (Coursera, Udemy).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0" y="3108960"/>
            <a:ext cx="36576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29600" y="3108960"/>
            <a:ext cx="109728" cy="292608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49640" y="347472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F2A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</a:t>
            </a:r>
            <a:endParaRPr lang="en-US" sz="6400" dirty="0"/>
          </a:p>
        </p:txBody>
      </p:sp>
      <p:sp>
        <p:nvSpPr>
          <p:cNvPr id="15" name="Text 13"/>
          <p:cNvSpPr/>
          <p:nvPr/>
        </p:nvSpPr>
        <p:spPr>
          <a:xfrm>
            <a:off x="8549640" y="484632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rails today for funders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disburse merit-based education grants.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broken markets. One platform that can fix all three.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72865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LEARNCHAIN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 •  01 OF 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Learners are priced, throttled,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forgotten.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4754880" cy="40233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377440"/>
            <a:ext cx="4754880" cy="73152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6060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RURAL LEARNER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3108960"/>
            <a:ext cx="4206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"My phone has 1 GB of RAM.</a:t>
            </a: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 data plan is 2G.</a:t>
            </a: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 nearest university is six hours away."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521208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 by data cost, slow connections,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devices Coursera was never built for.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0" y="2377440"/>
            <a:ext cx="73152" cy="8229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97880" y="23774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Priced out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897880" y="2761488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Coursera and Udemy assume disposable income and credit cards.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69280" y="3401568"/>
            <a:ext cx="73152" cy="8229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97880" y="340156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Throttled out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897880" y="3785616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built for fiber don't load on a 2G connection in 5 seconds.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669280" y="4425696"/>
            <a:ext cx="73152" cy="8229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97880" y="4425696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Forgotten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897880" y="4809744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Lecture-heavy, linear content — learners forget as fast as they consume.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669280" y="5449824"/>
            <a:ext cx="73152" cy="8229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97880" y="5449824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Unrecognized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897880" y="583387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are easily faked and hard to verify across borders.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72865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LEARNCHAIN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 •  02 OF 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Teachers build the value.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Platforms keep most of the money.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split — incumbent platforms vs. LearnChain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2651760"/>
          <a:ext cx="658368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498080" y="2286000"/>
            <a:ext cx="4206240" cy="4114800"/>
          </a:xfrm>
          <a:prstGeom prst="rect">
            <a:avLst/>
          </a:prstGeom>
          <a:solidFill>
            <a:srgbClr val="F7F9FC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498080" y="2286000"/>
            <a:ext cx="109728" cy="411480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26680" y="24688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TEACHERS FACE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726680" y="2834640"/>
            <a:ext cx="38404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production is hard.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editing, LMS setup, structured curricula — none of it teachers signed up for.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 take 30–50%.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coach in Cebu earns cents per enrollment on US-priced platforms.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path to verified outcomes.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data lives in a silo a graduate can never carry with them.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072865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14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LEARNCHAIN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 •  03 OF 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Funders want to fund learning.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There is no rail.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468880"/>
            <a:ext cx="5577840" cy="3931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468880"/>
            <a:ext cx="5577840" cy="73152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6517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FUNDER PROBLEM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3108960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"We have the budget.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don't have a way to verify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actually learned anything."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5029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NGO program lead, Philippines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56692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Grants today are paper-based, opaque,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impossible to target by merit.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92240" y="246888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A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7315200" y="25146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verifiable learning record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315200" y="301752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data is trapped inside platform silos and cannot be audited.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92240" y="384048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A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7315200" y="38862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targeting by merit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315200" y="438912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Grants are awarded by application — not by demonstrated, sustained learning.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92240" y="521208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A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7315200" y="52578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programmable disbursement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315200" y="576072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Funds move through wires and intermediaries. There is no neutral rail.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072865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LEARNCHAIN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pillars. One platform.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Learning-first by design.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743200"/>
            <a:ext cx="36576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743200"/>
            <a:ext cx="3657600" cy="73152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3017520"/>
            <a:ext cx="640080" cy="6400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3017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68680" y="37947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Course Generation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68680" y="461772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 upload raw materials — PDFs, videos, docs. Claude turns them into a structured course in minutes. No video editor. No LMS.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89120" y="2743200"/>
            <a:ext cx="36576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89120" y="2743200"/>
            <a:ext cx="3657600" cy="73152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3017520"/>
            <a:ext cx="640080" cy="6400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3017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709160" y="37947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Evidence-Based Adaptive Learning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709160" y="461772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Spaced repetition, retrieval practice, mastery progression. ADHD-friendly chunking. Real learning science — not 'learning styles' pseudoscience.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0" y="2743200"/>
            <a:ext cx="36576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0" y="2743200"/>
            <a:ext cx="3657600" cy="73152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49640" y="3017520"/>
            <a:ext cx="640080" cy="6400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49640" y="3017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⛓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549640" y="37947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Verifiable Credentials on Stellar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549640" y="461772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W3C Verifiable Credentials + Open Badges 3.0. Hash-anchored on Stellar. Portable across borders, HR systems, and learning platforms.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Sitting on top: a programmable grant-eligibility layer connecting funders to learners by merit.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72865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LEARNCHAIN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 •  01 OF 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Raw materials in.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Structured course out — in minutes.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468880"/>
            <a:ext cx="2606040" cy="2377440"/>
          </a:xfrm>
          <a:prstGeom prst="rect">
            <a:avLst/>
          </a:prstGeom>
          <a:solidFill>
            <a:srgbClr val="F7F9FC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468880"/>
            <a:ext cx="2606040" cy="731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6974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77240" y="33375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Upload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77240" y="388620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PDF, Word, YouTube link, or video.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and drop.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172968" y="3383280"/>
            <a:ext cx="146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337560" y="2468880"/>
            <a:ext cx="2606040" cy="2377440"/>
          </a:xfrm>
          <a:prstGeom prst="rect">
            <a:avLst/>
          </a:prstGeom>
          <a:solidFill>
            <a:srgbClr val="F7F9FC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37560" y="2468880"/>
            <a:ext cx="2606040" cy="731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0" y="26974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566160" y="33375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Generates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3566160" y="388620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outline, lessons, quizzes,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cards, difficulty tags.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61888" y="3383280"/>
            <a:ext cx="146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126480" y="2468880"/>
            <a:ext cx="2606040" cy="2377440"/>
          </a:xfrm>
          <a:prstGeom prst="rect">
            <a:avLst/>
          </a:prstGeom>
          <a:solidFill>
            <a:srgbClr val="F7F9FC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0" y="2468880"/>
            <a:ext cx="2606040" cy="731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26974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355080" y="33375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Reviews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355080" y="388620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edit pass.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auto-publishes.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750808" y="3383280"/>
            <a:ext cx="146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8915400" y="2468880"/>
            <a:ext cx="2606040" cy="2377440"/>
          </a:xfrm>
          <a:prstGeom prst="rect">
            <a:avLst/>
          </a:prstGeom>
          <a:solidFill>
            <a:srgbClr val="F7F9FC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915400" y="2468880"/>
            <a:ext cx="2606040" cy="731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0" y="26974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9144000" y="33375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Course Live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9144000" y="388620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Learners enroll.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 and credentials flow.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5120640"/>
            <a:ext cx="11064240" cy="12801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5120640"/>
            <a:ext cx="109728" cy="128016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5257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MOAT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77240" y="55778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4.6 for generation, Claude Haiku 4.5 for structural ops, with prompt caching. AI is called once per course — never per page view. Near-zero marginal cost per learner.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1072865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14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LEARNCHAIN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 •  02 OF 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that sticks.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Progress you can prove.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5577840" cy="4114800"/>
          </a:xfrm>
          <a:prstGeom prst="rect">
            <a:avLst/>
          </a:prstGeom>
          <a:solidFill>
            <a:srgbClr val="F7F9FC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377440"/>
            <a:ext cx="5577840" cy="731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5603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EVIDENCE-BASED, NOT 'LEARNING STYLES'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92608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Assist Mode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68680" y="3657600"/>
            <a:ext cx="5029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Spaced repetition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resurface on an expanding schedule.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practice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Low-stakes quizzing beats passive re-reading.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Mastery progression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 when you can — not on a fixed clock.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calibration (Elo / IRT)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tune to the productive-challenge zone.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ADHD-friendly chunking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blocks, micro-checkpoints, clear progress.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0" y="2377440"/>
            <a:ext cx="5212080" cy="41148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0" y="2377440"/>
            <a:ext cx="5212080" cy="73152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29400" y="25603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MERIT, NOT LEARN-TO-EARN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629400" y="292608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XP, Streaks &amp; Badges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629400" y="361188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 is cumulative and never spent. Streaks reward consistency. Badges become Verifiable Credentials.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629400" y="4754880"/>
            <a:ext cx="1463040" cy="1463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29400" y="480060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2A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629400" y="557784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→ Mentor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229600" y="4754880"/>
            <a:ext cx="1463040" cy="1463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0" y="480060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2A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∞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8229600" y="557784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burned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829800" y="4754880"/>
            <a:ext cx="1463040" cy="1463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29800" y="480060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2A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100d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9829800" y="557784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Streaks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milestones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629400" y="626364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Harder to game than payout tournaments. Funders target by sustained merit.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072865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LEARNCHAIN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 •  03 OF 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Credentials that travel.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Grants that flow on merit.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468880"/>
            <a:ext cx="2139696" cy="13716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468880"/>
            <a:ext cx="2139696" cy="73152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6517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971800"/>
            <a:ext cx="1773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 completes course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779776" y="2468880"/>
            <a:ext cx="2139696" cy="13716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79776" y="2468880"/>
            <a:ext cx="2139696" cy="73152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62656" y="26517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962656" y="2971800"/>
            <a:ext cx="1773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W3C Verifiable Credential issued (Open Badges 3.0)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10912" y="2468880"/>
            <a:ext cx="2139696" cy="13716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10912" y="2468880"/>
            <a:ext cx="2139696" cy="73152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93792" y="26517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193792" y="2971800"/>
            <a:ext cx="1773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anchored on Stellar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242048" y="2468880"/>
            <a:ext cx="2139696" cy="13716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42048" y="2468880"/>
            <a:ext cx="2139696" cy="73152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24928" y="26517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24928" y="2971800"/>
            <a:ext cx="1773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 checks signature + on-chain hash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473184" y="2468880"/>
            <a:ext cx="2139696" cy="13716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473184" y="2468880"/>
            <a:ext cx="2139696" cy="73152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56064" y="26517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656064" y="2971800"/>
            <a:ext cx="1773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Recognized by HR, LMS, EU Europass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297680"/>
            <a:ext cx="11064240" cy="2286000"/>
          </a:xfrm>
          <a:prstGeom prst="rect">
            <a:avLst/>
          </a:prstGeom>
          <a:solidFill>
            <a:srgbClr val="F7F9FC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4297680"/>
            <a:ext cx="109728" cy="22860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4434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GRANT-ELIGIBILITY LAYER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68680" y="47548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LearnChain decides eligibility. A licensed VASP moves the money.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868680" y="534924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Funder sets criteria  </a:t>
            </a:r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("Agriculture learners, Region IV, 30,000+ XP, Consistent Learner badge").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LearnChain evaluates the merit ledger  </a:t>
            </a:r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produces the verified recipient list.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licensed PH VASP  </a:t>
            </a:r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(Coins.ph / PDAX / GCash) disburses USDC or PHP. Every event hash-anchored, audit-exportable.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072865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LEARNCHAIN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 •  COMPETITIVE MOAT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Reward-first platforms collapse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the rewards stop.</a:t>
            </a:r>
            <a:endParaRPr lang="en-US" sz="3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1106424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011680"/>
                <a:gridCol w="1645920"/>
                <a:gridCol w="1645920"/>
                <a:gridCol w="1645920"/>
                <a:gridCol w="21945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On-chain creds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Creator share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Sub-3G design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Filipino-first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Orientation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LearnChain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W3C VC + OB 3.0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Learning-first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Campus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Reward-first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BitDegree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Reward-first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Badges 3.0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Credential-first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Duolingo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Engagement-first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Coursera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Proprietary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Content-first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486400"/>
            <a:ext cx="11064240" cy="10972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5486400"/>
            <a:ext cx="109728" cy="109728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5623560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wedge: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learning-first compounds. Reward-first collapses. </a:t>
            </a:r>
            <a:pPr indent="0" marL="0">
              <a:buNone/>
            </a:pPr>
            <a:r>
              <a:rPr lang="en-US" sz="1400" i="1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learning is exactly what attracts continued grant funding — and what reward-first incumbents never produce.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72865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LEARNCHAIN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 •  BUSINESS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revenue lines.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network that compounds.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5440680" cy="1828800"/>
          </a:xfrm>
          <a:prstGeom prst="rect">
            <a:avLst/>
          </a:prstGeom>
          <a:solidFill>
            <a:srgbClr val="F7F9FC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377440"/>
            <a:ext cx="109728" cy="182880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6060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Transaction fees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338328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course sales and grant disbursements. Lowest-in-market take rate at launch; scales toward industry norm with growth.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2377440"/>
            <a:ext cx="5440680" cy="1828800"/>
          </a:xfrm>
          <a:prstGeom prst="rect">
            <a:avLst/>
          </a:prstGeom>
          <a:solidFill>
            <a:srgbClr val="F7F9FC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72200" y="2377440"/>
            <a:ext cx="109728" cy="18288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26060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46520" y="28803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Org subscriptions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46520" y="338328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NGOs, schools, corporates: $49/mo Org Pro tier — custom branding, funder dashboard, SLA.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389120"/>
            <a:ext cx="5440680" cy="1828800"/>
          </a:xfrm>
          <a:prstGeom prst="rect">
            <a:avLst/>
          </a:prstGeom>
          <a:solidFill>
            <a:srgbClr val="F7F9FC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4389120"/>
            <a:ext cx="109728" cy="18288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6177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48920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Ecosystem grants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22960" y="539496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Stellar Development Foundation, foundations, government — the immediate funding source and pitch right now.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4389120"/>
            <a:ext cx="5440680" cy="1828800"/>
          </a:xfrm>
          <a:prstGeom prst="rect">
            <a:avLst/>
          </a:prstGeom>
          <a:solidFill>
            <a:srgbClr val="F7F9FC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72200" y="4389120"/>
            <a:ext cx="109728" cy="18288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46177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46520" y="48920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Adjacent verticals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446520" y="539496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merit graph unlocks education financing, commodity-trade enablement, anonymized data products. Post-MVP.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64008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runs near-zero cost. Production at 1,000 users: $50–150/month. Capital-efficient by design.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072865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LEARNCHAIN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 •  THE WEDGE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Philippines first.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Southeast Asia next.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TARGETS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54864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743200"/>
            <a:ext cx="109728" cy="105156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83464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500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2514600" y="288036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 / coaches across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Tech, Agri, Arts, Language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977640"/>
            <a:ext cx="54864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977640"/>
            <a:ext cx="109728" cy="105156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06908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2514600" y="411480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NGOs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Year 1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5212080"/>
            <a:ext cx="54864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5212080"/>
            <a:ext cx="109728" cy="105156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530352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2514600" y="534924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government agencies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TESDA, DepEd, DICT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309360" y="2331720"/>
            <a:ext cx="5303520" cy="41148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2331720"/>
            <a:ext cx="5303520" cy="73152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2514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TARGET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37960" y="2926080"/>
            <a:ext cx="5029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15–18%</a:t>
            </a:r>
            <a:endParaRPr lang="en-US" sz="11000" dirty="0"/>
          </a:p>
        </p:txBody>
      </p:sp>
      <p:sp>
        <p:nvSpPr>
          <p:cNvPr id="21" name="Text 19"/>
          <p:cNvSpPr/>
          <p:nvPr/>
        </p:nvSpPr>
        <p:spPr>
          <a:xfrm>
            <a:off x="6537960" y="47091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DAU / MAU ratio at 3 months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537960" y="516636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Industry-realistic — sits in the Duolingo band. Honest targets win partner trust.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537960" y="5897880"/>
            <a:ext cx="457200" cy="27432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37960" y="59893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 goal: 22%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72865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LEARNCHAIN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hackathon MVP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regional infrastructure.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2715768" cy="40233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377440"/>
            <a:ext cx="2715768" cy="73152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606040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926080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1–3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77240" y="3291840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Hackathon MVP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68680" y="3977640"/>
            <a:ext cx="216712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course generation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 Credential on Stellar Testnet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 + badges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verifier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74136" y="2377440"/>
            <a:ext cx="2715768" cy="4023360"/>
          </a:xfrm>
          <a:prstGeom prst="rect">
            <a:avLst/>
          </a:prstGeom>
          <a:solidFill>
            <a:srgbClr val="F7F9FC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74136" y="2377440"/>
            <a:ext cx="2715768" cy="731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02736" y="2606040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02736" y="2926080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1–3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602736" y="3291840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Public Beta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94176" y="3977640"/>
            <a:ext cx="216712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AI Assist adaptive engine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lesson caching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Stellar Mainnet + VASP rail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NPC-registered compliance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99632" y="2377440"/>
            <a:ext cx="2715768" cy="4023360"/>
          </a:xfrm>
          <a:prstGeom prst="rect">
            <a:avLst/>
          </a:prstGeom>
          <a:solidFill>
            <a:srgbClr val="F7F9FC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99632" y="2377440"/>
            <a:ext cx="2715768" cy="731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28232" y="2606040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28232" y="2926080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4–9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28232" y="3291840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Growth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519672" y="3977640"/>
            <a:ext cx="216712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Android + iOS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Cebuano, Bahasa, Vietnamese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subscription billing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Soroban automated grants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025128" y="2377440"/>
            <a:ext cx="2715768" cy="4023360"/>
          </a:xfrm>
          <a:prstGeom prst="rect">
            <a:avLst/>
          </a:prstGeom>
          <a:solidFill>
            <a:srgbClr val="F7F9FC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025128" y="2377440"/>
            <a:ext cx="2715768" cy="731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53728" y="2606040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253728" y="2926080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10–18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9253728" y="3291840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345168" y="3977640"/>
            <a:ext cx="216712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 regional expansion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DepEd / TESDA pilots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Peer-tutoring marketplace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governance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72865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LEARNCHAIN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515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 the rail that makes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verifiable, fundable,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portable for the next billion.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731520" y="4754880"/>
            <a:ext cx="3520440" cy="14173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4754880"/>
            <a:ext cx="3520440" cy="54864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49377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Capital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53949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round to fund Phase 1: full adaptive engine, Stellar Mainnet, NPC compliance.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34840" y="4754880"/>
            <a:ext cx="3520440" cy="14173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4840" y="4754880"/>
            <a:ext cx="3520440" cy="54864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49377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Conviction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63440" y="53949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Investors who understand that learning-first compounds where reward-first collapses.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38160" y="4754880"/>
            <a:ext cx="3520440" cy="14173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38160" y="4754880"/>
            <a:ext cx="3520440" cy="54864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66760" y="49377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Connections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366760" y="53949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Intros to SEA NGOs, DepEd/TESDA, licensed PH VASPs, and Open Badges institutional issuers.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31520" y="64008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LEARNCHAIN  •  carlosjericodelatorre@gmail.com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LearnChain — VC Pitch Deck</dc:title>
  <dc:subject>PptxGenJS Presentation</dc:subject>
  <dc:creator>LearnChain</dc:creator>
  <cp:lastModifiedBy>LearnChain</cp:lastModifiedBy>
  <cp:revision>1</cp:revision>
  <dcterms:created xsi:type="dcterms:W3CDTF">2026-05-27T10:50:58Z</dcterms:created>
  <dcterms:modified xsi:type="dcterms:W3CDTF">2026-05-27T10:50:58Z</dcterms:modified>
</cp:coreProperties>
</file>